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4"/>
  </p:sldMasterIdLst>
  <p:notesMasterIdLst>
    <p:notesMasterId r:id="rId10"/>
  </p:notesMasterIdLst>
  <p:sldIdLst>
    <p:sldId id="485" r:id="rId5"/>
    <p:sldId id="603" r:id="rId6"/>
    <p:sldId id="617" r:id="rId7"/>
    <p:sldId id="608" r:id="rId8"/>
    <p:sldId id="618" r:id="rId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544F0CA-393E-957A-E989-AD8D8FE93BD1}" name="BRYANT, JACOB F Capt USAF AFPC AFPC/DSYA" initials="BA" userId="S::jacob.bryant.6@us.af.mil::42805d1b-1273-417c-b17d-184bc3aba260" providerId="AD"/>
  <p188:author id="{6FD21AFD-9F60-58AE-85B5-FA7D6E6652DD}" name="KUMMER, MACKENZIE J 2d Lt USAF AFPC AFPC/DSYA" initials="KA" userId="S::mackenzie.kummer.1@us.af.mil::5ad04d3e-a5d8-4562-96ae-07e8a6afdfa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2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556"/>
    <p:restoredTop sz="94628"/>
  </p:normalViewPr>
  <p:slideViewPr>
    <p:cSldViewPr snapToGrid="0">
      <p:cViewPr varScale="1">
        <p:scale>
          <a:sx n="118" d="100"/>
          <a:sy n="118" d="100"/>
        </p:scale>
        <p:origin x="448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1FB89E9-A828-4633-A683-FD5E2772D2C2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A4C0291-A1E1-4357-AC55-40FD262AF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34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1774">
              <a:defRPr/>
            </a:pPr>
            <a:fld id="{E3FB7272-D954-4397-B612-A34B18275158}" type="slidenum">
              <a:rPr lang="en-US">
                <a:solidFill>
                  <a:srgbClr val="000000"/>
                </a:solidFill>
                <a:latin typeface="Arial" pitchFamily="34" charset="0"/>
              </a:rPr>
              <a:pPr defTabSz="931774">
                <a:defRPr/>
              </a:pPr>
              <a:t>1</a:t>
            </a:fld>
            <a:endParaRPr lang="en-US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30213" y="706438"/>
            <a:ext cx="6292850" cy="3540125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4680" y="4483909"/>
            <a:ext cx="6323868" cy="4246979"/>
          </a:xfrm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6099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14680" y="4483909"/>
            <a:ext cx="6323868" cy="4246979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0C90A-46E3-4F6E-95A0-391D41793F4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33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508000" y="1231900"/>
            <a:ext cx="11176000" cy="0"/>
          </a:xfrm>
          <a:prstGeom prst="line">
            <a:avLst/>
          </a:prstGeom>
          <a:noFill/>
          <a:ln w="57150">
            <a:solidFill>
              <a:srgbClr val="151C77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2454688" y="500067"/>
            <a:ext cx="74689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altLang="en-US" sz="3600" b="1" i="1">
                <a:solidFill>
                  <a:srgbClr val="000000"/>
                </a:solidFill>
              </a:rPr>
              <a:t>The Air Force’s Personnel Center</a:t>
            </a:r>
          </a:p>
        </p:txBody>
      </p:sp>
      <p:sp>
        <p:nvSpPr>
          <p:cNvPr id="50191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368303" y="1962150"/>
            <a:ext cx="11315700" cy="1600200"/>
          </a:xfrm>
        </p:spPr>
        <p:txBody>
          <a:bodyPr/>
          <a:lstStyle>
            <a:lvl1pPr>
              <a:defRPr sz="4400" i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As of: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66FCF7-3BCD-4695-880A-2DA6BCE66B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122" y="2512002"/>
            <a:ext cx="2023161" cy="2033758"/>
          </a:xfrm>
          <a:prstGeom prst="rect">
            <a:avLst/>
          </a:prstGeom>
          <a:effectLst>
            <a:glow rad="431800">
              <a:srgbClr val="FFFFFF">
                <a:alpha val="72000"/>
              </a:srgbClr>
            </a:glow>
          </a:effectLst>
        </p:spPr>
      </p:pic>
      <p:pic>
        <p:nvPicPr>
          <p:cNvPr id="4" name="Picture 33" descr="USAF_BLUE_CHROME_WINGS">
            <a:extLst>
              <a:ext uri="{FF2B5EF4-FFF2-40B4-BE49-F238E27FC236}">
                <a16:creationId xmlns:a16="http://schemas.microsoft.com/office/drawing/2014/main" id="{D90A3D6A-4E1A-0227-1F85-AC09FC7FD5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3516" y="247785"/>
            <a:ext cx="909680" cy="846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3">
            <a:extLst>
              <a:ext uri="{FF2B5EF4-FFF2-40B4-BE49-F238E27FC236}">
                <a16:creationId xmlns:a16="http://schemas.microsoft.com/office/drawing/2014/main" id="{D3B95154-29AC-BC99-C5DD-56E1213BBAA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103"/>
          <a:stretch/>
        </p:blipFill>
        <p:spPr bwMode="auto">
          <a:xfrm>
            <a:off x="10660430" y="142225"/>
            <a:ext cx="1023570" cy="975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Line 2">
            <a:extLst>
              <a:ext uri="{FF2B5EF4-FFF2-40B4-BE49-F238E27FC236}">
                <a16:creationId xmlns:a16="http://schemas.microsoft.com/office/drawing/2014/main" id="{669F6DE3-8052-6B0E-1C31-6A8622DB5B8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8000" y="6451600"/>
            <a:ext cx="11176000" cy="0"/>
          </a:xfrm>
          <a:prstGeom prst="line">
            <a:avLst/>
          </a:prstGeom>
          <a:noFill/>
          <a:ln w="57150">
            <a:solidFill>
              <a:srgbClr val="151C77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Text Box 1029">
            <a:extLst>
              <a:ext uri="{FF2B5EF4-FFF2-40B4-BE49-F238E27FC236}">
                <a16:creationId xmlns:a16="http://schemas.microsoft.com/office/drawing/2014/main" id="{75C95275-8902-48DF-486D-F84F31416E8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727200" y="6491289"/>
            <a:ext cx="8737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800" b="1" i="1">
                <a:solidFill>
                  <a:srgbClr val="000000"/>
                </a:solidFill>
                <a:latin typeface="+mj-lt"/>
              </a:rPr>
              <a:t>Care </a:t>
            </a:r>
            <a:r>
              <a:rPr lang="en-US" altLang="en-US" sz="1800" b="1" i="0">
                <a:solidFill>
                  <a:srgbClr val="000000"/>
                </a:solidFill>
                <a:latin typeface="+mj-lt"/>
              </a:rPr>
              <a:t>that Connects</a:t>
            </a:r>
            <a:r>
              <a:rPr lang="en-US" altLang="en-US" sz="1800" b="1" i="1">
                <a:solidFill>
                  <a:srgbClr val="000000"/>
                </a:solidFill>
                <a:latin typeface="+mj-lt"/>
              </a:rPr>
              <a:t>…Talent </a:t>
            </a:r>
            <a:r>
              <a:rPr lang="en-US" altLang="en-US" sz="1800" b="1" i="0">
                <a:solidFill>
                  <a:srgbClr val="000000"/>
                </a:solidFill>
                <a:latin typeface="+mj-lt"/>
              </a:rPr>
              <a:t>that Transforms</a:t>
            </a:r>
          </a:p>
        </p:txBody>
      </p:sp>
    </p:spTree>
    <p:extLst>
      <p:ext uri="{BB962C8B-B14F-4D97-AF65-F5344CB8AC3E}">
        <p14:creationId xmlns:p14="http://schemas.microsoft.com/office/powerpoint/2010/main" val="783012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4950"/>
            <a:ext cx="11286067" cy="4743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As of: 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42E453-760C-45C9-8C05-6ED692EDA49B}" type="slidenum">
              <a:rPr lang="en-US" smtClean="0"/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041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lumn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E2F22-3206-34D1-54F2-8CE634CAC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C70210-84BE-7DD6-8F66-4AA498C47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As of: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6A3B4-1395-B269-4300-97F1FDEB23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4524FF1-59DA-4E30-B21E-DD2136E217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B30F2D-CD9C-8455-A98A-8DC4FDC12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4951"/>
            <a:ext cx="5355771" cy="362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3BCDED-4BD9-42B1-4891-7FB8756CED9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379029" y="1504950"/>
            <a:ext cx="5355771" cy="3622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4F82D6D-690C-EBED-6D1C-02A8DA6FA8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225143"/>
            <a:ext cx="11277600" cy="114300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356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35F87-8101-CE4B-A69E-AECBE0120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7E149-C674-A5A1-A192-D219B4521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As of: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6DEDE-4A7E-B3E7-E05D-56C6EE6769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4524FF1-59DA-4E30-B21E-DD2136E217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DC7D754-4B67-3BFE-02C7-3C7F150345C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6510" y="1349830"/>
            <a:ext cx="11198981" cy="50292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38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ck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09E95D-7A6D-EDF8-FC7A-AFBD0C42E3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88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As of: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4524FF1-59DA-4E30-B21E-DD2136E217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Line 2"/>
          <p:cNvSpPr>
            <a:spLocks noChangeShapeType="1"/>
          </p:cNvSpPr>
          <p:nvPr userDrawn="1"/>
        </p:nvSpPr>
        <p:spPr bwMode="auto">
          <a:xfrm>
            <a:off x="508000" y="6451600"/>
            <a:ext cx="11176000" cy="0"/>
          </a:xfrm>
          <a:prstGeom prst="line">
            <a:avLst/>
          </a:prstGeom>
          <a:noFill/>
          <a:ln w="57150">
            <a:solidFill>
              <a:srgbClr val="151C77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508000" y="1231900"/>
            <a:ext cx="11176000" cy="0"/>
          </a:xfrm>
          <a:prstGeom prst="line">
            <a:avLst/>
          </a:prstGeom>
          <a:noFill/>
          <a:ln w="57150">
            <a:solidFill>
              <a:srgbClr val="151C77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7" name="Text Box 14"/>
          <p:cNvSpPr txBox="1">
            <a:spLocks noChangeArrowheads="1"/>
          </p:cNvSpPr>
          <p:nvPr userDrawn="1"/>
        </p:nvSpPr>
        <p:spPr bwMode="auto">
          <a:xfrm>
            <a:off x="2454688" y="500067"/>
            <a:ext cx="74689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altLang="en-US" sz="3600" b="1" i="1">
                <a:solidFill>
                  <a:srgbClr val="000000"/>
                </a:solidFill>
              </a:rPr>
              <a:t>The Air Force’s Personnel Center</a:t>
            </a:r>
          </a:p>
        </p:txBody>
      </p:sp>
      <p:sp>
        <p:nvSpPr>
          <p:cNvPr id="8" name="Text Box 1029"/>
          <p:cNvSpPr txBox="1">
            <a:spLocks noChangeArrowheads="1"/>
          </p:cNvSpPr>
          <p:nvPr userDrawn="1"/>
        </p:nvSpPr>
        <p:spPr bwMode="auto">
          <a:xfrm>
            <a:off x="1727200" y="6491289"/>
            <a:ext cx="8737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800" b="1" i="1">
                <a:solidFill>
                  <a:srgbClr val="000000"/>
                </a:solidFill>
                <a:latin typeface="+mj-lt"/>
              </a:rPr>
              <a:t>Care </a:t>
            </a:r>
            <a:r>
              <a:rPr lang="en-US" altLang="en-US" sz="1800" b="1" i="0">
                <a:solidFill>
                  <a:srgbClr val="000000"/>
                </a:solidFill>
                <a:latin typeface="+mj-lt"/>
              </a:rPr>
              <a:t>that Connects</a:t>
            </a:r>
            <a:r>
              <a:rPr lang="en-US" altLang="en-US" sz="1800" b="1" i="1">
                <a:solidFill>
                  <a:srgbClr val="000000"/>
                </a:solidFill>
                <a:latin typeface="+mj-lt"/>
              </a:rPr>
              <a:t>…Talent </a:t>
            </a:r>
            <a:r>
              <a:rPr lang="en-US" altLang="en-US" sz="1800" b="1" i="0">
                <a:solidFill>
                  <a:srgbClr val="000000"/>
                </a:solidFill>
                <a:latin typeface="+mj-lt"/>
              </a:rPr>
              <a:t>that Transforms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4320" y="1965960"/>
            <a:ext cx="4039009" cy="3940674"/>
          </a:xfrm>
          <a:prstGeom prst="rect">
            <a:avLst/>
          </a:prstGeom>
        </p:spPr>
      </p:pic>
      <p:pic>
        <p:nvPicPr>
          <p:cNvPr id="10" name="Picture 33" descr="USAF_BLUE_CHROME_WINGS">
            <a:extLst>
              <a:ext uri="{FF2B5EF4-FFF2-40B4-BE49-F238E27FC236}">
                <a16:creationId xmlns:a16="http://schemas.microsoft.com/office/drawing/2014/main" id="{DC2298B6-1956-E833-0856-6CAE79F1E2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3516" y="247785"/>
            <a:ext cx="909680" cy="846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>
            <a:extLst>
              <a:ext uri="{FF2B5EF4-FFF2-40B4-BE49-F238E27FC236}">
                <a16:creationId xmlns:a16="http://schemas.microsoft.com/office/drawing/2014/main" id="{10038945-F876-F310-FC56-E8D5D7700A5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103"/>
          <a:stretch/>
        </p:blipFill>
        <p:spPr bwMode="auto">
          <a:xfrm>
            <a:off x="10660430" y="142225"/>
            <a:ext cx="1023570" cy="975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2681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10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24625"/>
            <a:ext cx="162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000">
                <a:solidFill>
                  <a:srgbClr val="969696"/>
                </a:solidFill>
              </a:defRPr>
            </a:lvl1pPr>
          </a:lstStyle>
          <a:p>
            <a:pPr>
              <a:defRPr/>
            </a:pPr>
            <a:r>
              <a:rPr lang="en-US"/>
              <a:t>As of: </a:t>
            </a:r>
          </a:p>
        </p:txBody>
      </p:sp>
      <p:sp>
        <p:nvSpPr>
          <p:cNvPr id="49156" name="Rectangle 102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651067" y="6524625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800" b="1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4524FF1-59DA-4E30-B21E-DD2136E217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9" name="Rectangle 1030"/>
          <p:cNvSpPr>
            <a:spLocks noGrp="1" noChangeArrowheads="1"/>
          </p:cNvSpPr>
          <p:nvPr>
            <p:ph type="title"/>
          </p:nvPr>
        </p:nvSpPr>
        <p:spPr bwMode="auto">
          <a:xfrm>
            <a:off x="2218267" y="76200"/>
            <a:ext cx="9525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1" name="Line 1036"/>
          <p:cNvSpPr>
            <a:spLocks noChangeShapeType="1"/>
          </p:cNvSpPr>
          <p:nvPr/>
        </p:nvSpPr>
        <p:spPr bwMode="auto">
          <a:xfrm>
            <a:off x="508000" y="1231900"/>
            <a:ext cx="11176000" cy="0"/>
          </a:xfrm>
          <a:prstGeom prst="line">
            <a:avLst/>
          </a:prstGeom>
          <a:noFill/>
          <a:ln w="57150">
            <a:solidFill>
              <a:srgbClr val="151C77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032" name="Rectangle 104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8303" y="1504950"/>
            <a:ext cx="11197167" cy="474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0"/>
            <a:r>
              <a:rPr lang="en-US" altLang="en-US"/>
              <a:t>2nd Bullet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866" y="90489"/>
            <a:ext cx="1113734" cy="1119568"/>
          </a:xfrm>
          <a:prstGeom prst="rect">
            <a:avLst/>
          </a:prstGeom>
          <a:effectLst/>
        </p:spPr>
      </p:pic>
      <p:sp>
        <p:nvSpPr>
          <p:cNvPr id="4" name="Line 2">
            <a:extLst>
              <a:ext uri="{FF2B5EF4-FFF2-40B4-BE49-F238E27FC236}">
                <a16:creationId xmlns:a16="http://schemas.microsoft.com/office/drawing/2014/main" id="{E4D5C857-F2C1-4DBA-9999-E2C9E30D3BC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8000" y="6451600"/>
            <a:ext cx="11176000" cy="0"/>
          </a:xfrm>
          <a:prstGeom prst="line">
            <a:avLst/>
          </a:prstGeom>
          <a:noFill/>
          <a:ln w="57150">
            <a:solidFill>
              <a:srgbClr val="151C77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5" name="Text Box 1029">
            <a:extLst>
              <a:ext uri="{FF2B5EF4-FFF2-40B4-BE49-F238E27FC236}">
                <a16:creationId xmlns:a16="http://schemas.microsoft.com/office/drawing/2014/main" id="{229A6C66-8CBF-B98F-C2C1-46A7C0D37ED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727200" y="6491289"/>
            <a:ext cx="8737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800" b="1" i="1">
                <a:solidFill>
                  <a:srgbClr val="000000"/>
                </a:solidFill>
                <a:latin typeface="+mj-lt"/>
              </a:rPr>
              <a:t>Care </a:t>
            </a:r>
            <a:r>
              <a:rPr lang="en-US" altLang="en-US" sz="1800" b="1" i="0">
                <a:solidFill>
                  <a:srgbClr val="000000"/>
                </a:solidFill>
                <a:latin typeface="+mj-lt"/>
              </a:rPr>
              <a:t>that Connects</a:t>
            </a:r>
            <a:r>
              <a:rPr lang="en-US" altLang="en-US" sz="1800" b="1" i="1">
                <a:solidFill>
                  <a:srgbClr val="000000"/>
                </a:solidFill>
                <a:latin typeface="+mj-lt"/>
              </a:rPr>
              <a:t>…Talent </a:t>
            </a:r>
            <a:r>
              <a:rPr lang="en-US" altLang="en-US" sz="1800" b="1" i="0">
                <a:solidFill>
                  <a:srgbClr val="000000"/>
                </a:solidFill>
                <a:latin typeface="+mj-lt"/>
              </a:rPr>
              <a:t>that Transforms</a:t>
            </a:r>
          </a:p>
        </p:txBody>
      </p:sp>
    </p:spTree>
    <p:extLst>
      <p:ext uri="{BB962C8B-B14F-4D97-AF65-F5344CB8AC3E}">
        <p14:creationId xmlns:p14="http://schemas.microsoft.com/office/powerpoint/2010/main" val="3868595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72" r:id="rId3"/>
    <p:sldLayoutId id="2147483671" r:id="rId4"/>
    <p:sldLayoutId id="2147483670" r:id="rId5"/>
    <p:sldLayoutId id="2147483668" r:id="rId6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5pPr>
      <a:lvl6pPr marL="457189" algn="r" rtl="0" eaLnBrk="1" fontAlgn="base" hangingPunct="1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6pPr>
      <a:lvl7pPr marL="914377" algn="r" rtl="0" eaLnBrk="1" fontAlgn="base" hangingPunct="1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7pPr>
      <a:lvl8pPr marL="1371566" algn="r" rtl="0" eaLnBrk="1" fontAlgn="base" hangingPunct="1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8pPr>
      <a:lvl9pPr marL="1828754" algn="r" rtl="0" eaLnBrk="1" fontAlgn="base" hangingPunct="1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9pPr>
    </p:titleStyle>
    <p:bodyStyle>
      <a:lvl1pPr marL="284163" indent="-284163" algn="l" rtl="0" eaLnBrk="0" fontAlgn="base" hangingPunct="0">
        <a:spcBef>
          <a:spcPct val="50000"/>
        </a:spcBef>
        <a:spcAft>
          <a:spcPct val="0"/>
        </a:spcAft>
        <a:buClr>
          <a:srgbClr val="151C77"/>
        </a:buClr>
        <a:buSzPct val="8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88957" indent="-282568" algn="l" rtl="0" eaLnBrk="0" fontAlgn="base" hangingPunct="0">
        <a:spcBef>
          <a:spcPct val="25000"/>
        </a:spcBef>
        <a:spcAft>
          <a:spcPct val="0"/>
        </a:spcAft>
        <a:buClr>
          <a:srgbClr val="151C77"/>
        </a:buClr>
        <a:buSzPct val="80000"/>
        <a:buFont typeface="Wingdings" pitchFamily="2" charset="2"/>
        <a:buChar char="n"/>
        <a:defRPr sz="2000" b="1">
          <a:solidFill>
            <a:schemeClr val="tx1"/>
          </a:solidFill>
          <a:latin typeface="+mn-lt"/>
        </a:defRPr>
      </a:lvl2pPr>
      <a:lvl3pPr marL="1027088" indent="-223833" algn="l" rtl="0" eaLnBrk="0" fontAlgn="base" hangingPunct="0">
        <a:spcBef>
          <a:spcPct val="25000"/>
        </a:spcBef>
        <a:spcAft>
          <a:spcPct val="0"/>
        </a:spcAft>
        <a:buClr>
          <a:srgbClr val="151C77"/>
        </a:buClr>
        <a:buSzPct val="80000"/>
        <a:buFont typeface="Wingdings" pitchFamily="2" charset="2"/>
        <a:buChar char="n"/>
        <a:defRPr sz="2000" b="1">
          <a:solidFill>
            <a:schemeClr val="tx1"/>
          </a:solidFill>
          <a:latin typeface="+mn-lt"/>
        </a:defRPr>
      </a:lvl3pPr>
      <a:lvl4pPr marL="1600160" indent="-228594" algn="l" rtl="0" eaLnBrk="0" fontAlgn="base" hangingPunct="0">
        <a:spcBef>
          <a:spcPct val="25000"/>
        </a:spcBef>
        <a:spcAft>
          <a:spcPct val="0"/>
        </a:spcAft>
        <a:buClr>
          <a:srgbClr val="151C77"/>
        </a:buClr>
        <a:buSzPct val="80000"/>
        <a:buFont typeface="Wingdings" pitchFamily="2" charset="2"/>
        <a:buChar char="n"/>
        <a:defRPr sz="2000" b="1">
          <a:solidFill>
            <a:schemeClr val="tx1"/>
          </a:solidFill>
          <a:latin typeface="+mn-lt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8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SzPct val="8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SzPct val="8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SzPct val="8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SzPct val="8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3143015" y="1905000"/>
            <a:ext cx="8508240" cy="4423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 anchor="t"/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151C77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algn="r" eaLnBrk="0" hangingPunct="0">
              <a:defRPr/>
            </a:pPr>
            <a:r>
              <a:rPr lang="en-US" sz="4400" b="1">
                <a:solidFill>
                  <a:srgbClr val="151C77"/>
                </a:solidFill>
                <a:latin typeface="Arial"/>
                <a:cs typeface="Arial"/>
              </a:rPr>
              <a:t>FY2026 Officer Classification:</a:t>
            </a:r>
          </a:p>
          <a:p>
            <a:pPr algn="r">
              <a:defRPr/>
            </a:pPr>
            <a:r>
              <a:rPr lang="en-US" sz="4400" b="1">
                <a:solidFill>
                  <a:srgbClr val="151C77"/>
                </a:solidFill>
                <a:latin typeface="Arial"/>
                <a:cs typeface="Arial"/>
              </a:rPr>
              <a:t>Decision</a:t>
            </a: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151C77"/>
                </a:solidFill>
                <a:effectLst/>
                <a:uLnTx/>
                <a:uFillTx/>
                <a:latin typeface="Arial"/>
                <a:cs typeface="Arial"/>
              </a:rPr>
              <a:t> Briefing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13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E8C4CF4F-2ECB-4C54-9552-FB58A436033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57200" y="1447800"/>
            <a:ext cx="11359092" cy="474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44" indent="-285744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151C77"/>
              </a:buClr>
              <a:buSzPct val="8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8957" indent="-282568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151C77"/>
              </a:buClr>
              <a:buSzPct val="8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</a:defRPr>
            </a:lvl2pPr>
            <a:lvl3pPr marL="1027088" indent="-22383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151C77"/>
              </a:buClr>
              <a:buSzPct val="8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</a:defRPr>
            </a:lvl3pPr>
            <a:lvl4pPr marL="1600160" indent="-228594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151C77"/>
              </a:buClr>
              <a:buSzPct val="8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</a:defRPr>
            </a:lvl4pPr>
            <a:lvl5pPr marL="2057349" indent="-22859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285115" indent="-285115"/>
            <a:r>
              <a:rPr lang="en-US" altLang="en-US" kern="0" dirty="0"/>
              <a:t>Model Overview</a:t>
            </a:r>
            <a:endParaRPr lang="en-US" dirty="0"/>
          </a:p>
          <a:p>
            <a:pPr marL="285115" indent="-285115"/>
            <a:r>
              <a:rPr lang="en-US" altLang="en-US" kern="0" dirty="0"/>
              <a:t>FY26 Results – CASTLE Method</a:t>
            </a:r>
            <a:endParaRPr lang="en-US" altLang="en-US" kern="0" dirty="0">
              <a:cs typeface="Arial"/>
            </a:endParaRPr>
          </a:p>
          <a:p>
            <a:pPr marL="688340" lvl="1" indent="-281940"/>
            <a:r>
              <a:rPr lang="en-US" altLang="en-US" kern="0" dirty="0"/>
              <a:t>Key Pacing Metrics</a:t>
            </a:r>
            <a:endParaRPr lang="en-US" altLang="en-US" kern="0" dirty="0">
              <a:cs typeface="Arial"/>
            </a:endParaRPr>
          </a:p>
          <a:p>
            <a:pPr marL="285115" indent="-285115"/>
            <a:r>
              <a:rPr lang="en-US" altLang="en-US" kern="0" dirty="0"/>
              <a:t>Surplus Allocation</a:t>
            </a:r>
            <a:endParaRPr lang="en-US" altLang="en-US" kern="0" dirty="0">
              <a:cs typeface="Arial"/>
            </a:endParaRPr>
          </a:p>
          <a:p>
            <a:pPr marL="285115" indent="-285115"/>
            <a:r>
              <a:rPr lang="en-US" kern="0" dirty="0">
                <a:cs typeface="Arial"/>
              </a:rPr>
              <a:t>62EXE Shortage</a:t>
            </a:r>
          </a:p>
          <a:p>
            <a:pPr marL="285115" indent="-285115"/>
            <a:endParaRPr lang="en-US" kern="0" dirty="0">
              <a:cs typeface="Arial"/>
            </a:endParaRPr>
          </a:p>
          <a:p>
            <a:pPr marL="285115" indent="-285115"/>
            <a:r>
              <a:rPr lang="en-US" altLang="en-US" kern="0" dirty="0">
                <a:cs typeface="Arial"/>
              </a:rPr>
              <a:t>AFSC Satisfaction Breakdown</a:t>
            </a:r>
            <a:endParaRPr lang="en-US" altLang="en-US" kern="0" dirty="0"/>
          </a:p>
          <a:p>
            <a:pPr marL="285115" indent="-285115"/>
            <a:r>
              <a:rPr lang="en-US" altLang="en-US" kern="0" dirty="0"/>
              <a:t>Cadet Preference Breakdown</a:t>
            </a:r>
            <a:endParaRPr lang="en-US" altLang="en-US" kern="0" dirty="0">
              <a:cs typeface="Arial"/>
            </a:endParaRPr>
          </a:p>
          <a:p>
            <a:pPr marL="285115" indent="-285115"/>
            <a:endParaRPr lang="en-US" altLang="en-US" kern="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8931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391EBF-1F30-D99B-3EB3-78A297997DB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97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7A683-082D-C537-DB9B-973EA1F3B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3859" y="2413706"/>
            <a:ext cx="4965700" cy="1600200"/>
          </a:xfrm>
        </p:spPr>
        <p:txBody>
          <a:bodyPr/>
          <a:lstStyle/>
          <a:p>
            <a:pPr algn="ctr"/>
            <a:r>
              <a:rPr lang="en-US" dirty="0">
                <a:cs typeface="Arial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225676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991AE-C5E2-41BD-5CDE-FA6A931FC0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42E453-760C-45C9-8C05-6ED692EDA49B}" type="slidenum">
              <a:rPr lang="en-US" smtClean="0"/>
              <a:pPr>
                <a:defRPr/>
              </a:pPr>
              <a:t>5</a:t>
            </a:fld>
            <a:endParaRPr lang="en-US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399312"/>
      </p:ext>
    </p:extLst>
  </p:cSld>
  <p:clrMapOvr>
    <a:masterClrMapping/>
  </p:clrMapOvr>
</p:sld>
</file>

<file path=ppt/theme/theme1.xml><?xml version="1.0" encoding="utf-8"?>
<a:theme xmlns:a="http://schemas.openxmlformats.org/drawingml/2006/main" name="4_USAF(Unclas)">
  <a:themeElements>
    <a:clrScheme name="USAF(Unclas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USAF(Unclas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noFill/>
          <a:miter lim="800000"/>
          <a:headEnd/>
          <a:tailEnd/>
        </a:ln>
      </a:spPr>
      <a:bodyPr wrap="square" lIns="91440" rIns="91440" anchor="ctr">
        <a:spAutoFit/>
      </a:bodyPr>
      <a:lstStyle>
        <a:defPPr indent="457200">
          <a:tabLst>
            <a:tab pos="2057400" algn="l"/>
          </a:tabLst>
          <a:defRPr sz="1200" b="1" u="sng" dirty="0"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SAF(Unclas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AF(Unclas)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SAF(Unclas)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AF(Unclas)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AF(Unclas)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AF(Unclas)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AF(Unclas)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8007EF56209341AB6C2B13A6FE027B" ma:contentTypeVersion="6" ma:contentTypeDescription="Create a new document." ma:contentTypeScope="" ma:versionID="b22d9e08d33ca08643843c5f141e68d5">
  <xsd:schema xmlns:xsd="http://www.w3.org/2001/XMLSchema" xmlns:xs="http://www.w3.org/2001/XMLSchema" xmlns:p="http://schemas.microsoft.com/office/2006/metadata/properties" xmlns:ns2="531bccbd-292c-49ab-9a0b-b4c770216460" xmlns:ns3="0e9d41ae-4249-446b-8316-88e9fdc24f25" targetNamespace="http://schemas.microsoft.com/office/2006/metadata/properties" ma:root="true" ma:fieldsID="1c13f5d751eac189b4ea056eaab342b0" ns2:_="" ns3:_="">
    <xsd:import namespace="531bccbd-292c-49ab-9a0b-b4c770216460"/>
    <xsd:import namespace="0e9d41ae-4249-446b-8316-88e9fdc24f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1bccbd-292c-49ab-9a0b-b4c7702164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9d41ae-4249-446b-8316-88e9fdc24f2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FCE405-1005-4980-8098-E51D3FB2D57F}">
  <ds:schemaRefs>
    <ds:schemaRef ds:uri="0e9d41ae-4249-446b-8316-88e9fdc24f25"/>
    <ds:schemaRef ds:uri="531bccbd-292c-49ab-9a0b-b4c77021646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18EDA23-B0B4-4354-B462-6C424B3AB55D}">
  <ds:schemaRefs>
    <ds:schemaRef ds:uri="0e9d41ae-4249-446b-8316-88e9fdc24f25"/>
    <ds:schemaRef ds:uri="531bccbd-292c-49ab-9a0b-b4c77021646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0210A9E-FB7A-4395-8F34-1716D0AD47A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331b18d-2d87-48ef-a35f-ac8818ebf9b4}" enabled="0" method="" siteId="{8331b18d-2d87-48ef-a35f-ac8818ebf9b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856</TotalTime>
  <Words>33</Words>
  <Application>Microsoft Macintosh PowerPoint</Application>
  <PresentationFormat>Widescreen</PresentationFormat>
  <Paragraphs>17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Wingdings</vt:lpstr>
      <vt:lpstr>4_USAF(Unclas)</vt:lpstr>
      <vt:lpstr>PowerPoint Presentation</vt:lpstr>
      <vt:lpstr>Overview</vt:lpstr>
      <vt:lpstr>PowerPoint Presentation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KUMMER, MACKENZIE J 2d Lt USAF AFPC AFPC/DSYA</dc:creator>
  <cp:lastModifiedBy>Laird, Daniel G Capt USAF USAFA DF/OLEA</cp:lastModifiedBy>
  <cp:revision>8</cp:revision>
  <cp:lastPrinted>2024-08-21T19:51:27Z</cp:lastPrinted>
  <dcterms:created xsi:type="dcterms:W3CDTF">2024-08-20T13:40:40Z</dcterms:created>
  <dcterms:modified xsi:type="dcterms:W3CDTF">2026-03-22T02:52:54Z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0x0101001B8007EF56209341AB6C2B13A6FE027B</vt:lpwstr>
  </property>
</Properties>
</file>